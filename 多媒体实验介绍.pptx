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72435298849ef" /><Relationship Type="http://schemas.openxmlformats.org/officeDocument/2006/relationships/extended-properties" Target="/docProps/app.xml" Id="Ra02bc6b6ce7f47a1" /><Relationship Type="http://schemas.openxmlformats.org/officeDocument/2006/relationships/officeDocument" Target="/ppt/presentation.xml" Id="Rd357a9347e93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199a4aa5c4e50"/>
  </p:sldMasterIdLst>
  <p:notesMasterIdLst>
    <p:notesMasterId xmlns:r="http://schemas.openxmlformats.org/officeDocument/2006/relationships" r:id="Rbf9abb6810934f2c"/>
  </p:notesMasterIdLst>
  <p:sldIdLst>
    <p:sldId xmlns:r="http://schemas.openxmlformats.org/officeDocument/2006/relationships" id="256" r:id="R2e551c31e15146a7"/>
    <p:sldId xmlns:r="http://schemas.openxmlformats.org/officeDocument/2006/relationships" id="257" r:id="R41e1fea34b494eba"/>
    <p:sldId xmlns:r="http://schemas.openxmlformats.org/officeDocument/2006/relationships" id="258" r:id="R28d2b61010fa4642"/>
    <p:sldId xmlns:r="http://schemas.openxmlformats.org/officeDocument/2006/relationships" id="259" r:id="R8754087152424944"/>
    <p:sldId xmlns:r="http://schemas.openxmlformats.org/officeDocument/2006/relationships" id="260" r:id="R5ca0192cc88a404d"/>
    <p:sldId xmlns:r="http://schemas.openxmlformats.org/officeDocument/2006/relationships" id="261" r:id="Rdaa1e676e1494e3e"/>
    <p:sldId xmlns:r="http://schemas.openxmlformats.org/officeDocument/2006/relationships" id="262" r:id="R1e7a6a6595ec41af"/>
    <p:sldId xmlns:r="http://schemas.openxmlformats.org/officeDocument/2006/relationships" id="263" r:id="Re88e7657761346e1"/>
    <p:sldId xmlns:r="http://schemas.openxmlformats.org/officeDocument/2006/relationships" id="264" r:id="R7c7d089286ed4f25"/>
    <p:sldId xmlns:r="http://schemas.openxmlformats.org/officeDocument/2006/relationships" id="265" r:id="R2c35997954a94920"/>
    <p:sldId xmlns:r="http://schemas.openxmlformats.org/officeDocument/2006/relationships" id="266" r:id="Rd3cb181507524cf5"/>
    <p:sldId xmlns:r="http://schemas.openxmlformats.org/officeDocument/2006/relationships" id="267" r:id="R801ae0b18ba64bf7"/>
    <p:sldId xmlns:r="http://schemas.openxmlformats.org/officeDocument/2006/relationships" id="268" r:id="R34e342926bac4ce4"/>
    <p:sldId xmlns:r="http://schemas.openxmlformats.org/officeDocument/2006/relationships" id="269" r:id="Rbb954b42d5eb4315"/>
    <p:sldId xmlns:r="http://schemas.openxmlformats.org/officeDocument/2006/relationships" id="270" r:id="R77bd96a78f694bee"/>
    <p:sldId xmlns:r="http://schemas.openxmlformats.org/officeDocument/2006/relationships" id="271" r:id="R94a253d2d71d4d09"/>
    <p:sldId xmlns:r="http://schemas.openxmlformats.org/officeDocument/2006/relationships" id="272" r:id="R6e53ee4502e84a8b"/>
    <p:sldId xmlns:r="http://schemas.openxmlformats.org/officeDocument/2006/relationships" id="273" r:id="R5c57b000ce384ec8"/>
    <p:sldId xmlns:r="http://schemas.openxmlformats.org/officeDocument/2006/relationships" id="274" r:id="R2d7385a12cc3484d"/>
    <p:sldId xmlns:r="http://schemas.openxmlformats.org/officeDocument/2006/relationships" id="275" r:id="R3607b68216244b44"/>
    <p:sldId xmlns:r="http://schemas.openxmlformats.org/officeDocument/2006/relationships" id="276" r:id="R1ff639deb44548d9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1f8713f3204790" /><Relationship Type="http://schemas.openxmlformats.org/officeDocument/2006/relationships/slideMaster" Target="/ppt/slideMasters/slideMaster1.xml" Id="Rd75199a4aa5c4e50" /><Relationship Type="http://schemas.openxmlformats.org/officeDocument/2006/relationships/notesMaster" Target="/ppt/notesMasters/notesMaster1.xml" Id="Rbf9abb6810934f2c" /><Relationship Type="http://schemas.openxmlformats.org/officeDocument/2006/relationships/presProps" Target="/ppt/presProps.xml" Id="Rdffc3d38f1a54acf" /><Relationship Type="http://schemas.openxmlformats.org/officeDocument/2006/relationships/viewProps" Target="/ppt/viewProps.xml" Id="Re2aa93bf0c1e4ec4" /><Relationship Type="http://schemas.openxmlformats.org/officeDocument/2006/relationships/tableStyles" Target="/ppt/tableStyles.xml" Id="R18320758800f4236" /><Relationship Type="http://schemas.openxmlformats.org/officeDocument/2006/relationships/slide" Target="/ppt/slides/slide1.xml" Id="R2e551c31e15146a7" /><Relationship Type="http://schemas.openxmlformats.org/officeDocument/2006/relationships/slide" Target="/ppt/slides/slide2.xml" Id="R41e1fea34b494eba" /><Relationship Type="http://schemas.openxmlformats.org/officeDocument/2006/relationships/slide" Target="/ppt/slides/slide3.xml" Id="R28d2b61010fa4642" /><Relationship Type="http://schemas.openxmlformats.org/officeDocument/2006/relationships/slide" Target="/ppt/slides/slide4.xml" Id="R8754087152424944" /><Relationship Type="http://schemas.openxmlformats.org/officeDocument/2006/relationships/slide" Target="/ppt/slides/slide5.xml" Id="R5ca0192cc88a404d" /><Relationship Type="http://schemas.openxmlformats.org/officeDocument/2006/relationships/slide" Target="/ppt/slides/slide6.xml" Id="Rdaa1e676e1494e3e" /><Relationship Type="http://schemas.openxmlformats.org/officeDocument/2006/relationships/slide" Target="/ppt/slides/slide7.xml" Id="R1e7a6a6595ec41af" /><Relationship Type="http://schemas.openxmlformats.org/officeDocument/2006/relationships/slide" Target="/ppt/slides/slide8.xml" Id="Re88e7657761346e1" /><Relationship Type="http://schemas.openxmlformats.org/officeDocument/2006/relationships/slide" Target="/ppt/slides/slide9.xml" Id="R7c7d089286ed4f25" /><Relationship Type="http://schemas.openxmlformats.org/officeDocument/2006/relationships/slide" Target="/ppt/slides/slide10.xml" Id="R2c35997954a94920" /><Relationship Type="http://schemas.openxmlformats.org/officeDocument/2006/relationships/slide" Target="/ppt/slides/slide11.xml" Id="Rd3cb181507524cf5" /><Relationship Type="http://schemas.openxmlformats.org/officeDocument/2006/relationships/slide" Target="/ppt/slides/slide12.xml" Id="R801ae0b18ba64bf7" /><Relationship Type="http://schemas.openxmlformats.org/officeDocument/2006/relationships/slide" Target="/ppt/slides/slide13.xml" Id="R34e342926bac4ce4" /><Relationship Type="http://schemas.openxmlformats.org/officeDocument/2006/relationships/slide" Target="/ppt/slides/slide14.xml" Id="Rbb954b42d5eb4315" /><Relationship Type="http://schemas.openxmlformats.org/officeDocument/2006/relationships/slide" Target="/ppt/slides/slide15.xml" Id="R77bd96a78f694bee" /><Relationship Type="http://schemas.openxmlformats.org/officeDocument/2006/relationships/slide" Target="/ppt/slides/slide16.xml" Id="R94a253d2d71d4d09" /><Relationship Type="http://schemas.openxmlformats.org/officeDocument/2006/relationships/slide" Target="/ppt/slides/slide17.xml" Id="R6e53ee4502e84a8b" /><Relationship Type="http://schemas.openxmlformats.org/officeDocument/2006/relationships/slide" Target="/ppt/slides/slide18.xml" Id="R5c57b000ce384ec8" /><Relationship Type="http://schemas.openxmlformats.org/officeDocument/2006/relationships/slide" Target="/ppt/slides/slide19.xml" Id="R2d7385a12cc3484d" /><Relationship Type="http://schemas.openxmlformats.org/officeDocument/2006/relationships/slide" Target="/ppt/slides/slide20.xml" Id="R3607b68216244b44" /><Relationship Type="http://schemas.openxmlformats.org/officeDocument/2006/relationships/slide" Target="/ppt/slides/slide21.xml" Id="R1ff639deb445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9d1303c924c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17b526e804dc0" /><Relationship Type="http://schemas.openxmlformats.org/officeDocument/2006/relationships/notesMaster" Target="/ppt/notesMasters/notesMaster1.xml" Id="Rc209b0fcb51c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894f9265d490e" /><Relationship Type="http://schemas.openxmlformats.org/officeDocument/2006/relationships/notesMaster" Target="/ppt/notesMasters/notesMaster1.xml" Id="R42a8d2b71c854d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41eb5c8034b9a" /><Relationship Type="http://schemas.openxmlformats.org/officeDocument/2006/relationships/notesMaster" Target="/ppt/notesMasters/notesMaster1.xml" Id="R5fc9661b46cd46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d471a3a5b4b26" /><Relationship Type="http://schemas.openxmlformats.org/officeDocument/2006/relationships/notesMaster" Target="/ppt/notesMasters/notesMaster1.xml" Id="Rb75a95b450fa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36534791014102" /><Relationship Type="http://schemas.openxmlformats.org/officeDocument/2006/relationships/notesMaster" Target="/ppt/notesMasters/notesMaster1.xml" Id="R0ab9ea968d204c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5fec92cb52479b" /><Relationship Type="http://schemas.openxmlformats.org/officeDocument/2006/relationships/notesMaster" Target="/ppt/notesMasters/notesMaster1.xml" Id="Raedc80b8480140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50f4349ae64171" /><Relationship Type="http://schemas.openxmlformats.org/officeDocument/2006/relationships/notesMaster" Target="/ppt/notesMasters/notesMaster1.xml" Id="Red5483c9981e4b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06bac91c2481f" /><Relationship Type="http://schemas.openxmlformats.org/officeDocument/2006/relationships/notesMaster" Target="/ppt/notesMasters/notesMaster1.xml" Id="R572ba68b8b2242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c436d632994506" /><Relationship Type="http://schemas.openxmlformats.org/officeDocument/2006/relationships/notesMaster" Target="/ppt/notesMasters/notesMaster1.xml" Id="R0114907bfe84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c7add3bd0c4caf" /><Relationship Type="http://schemas.openxmlformats.org/officeDocument/2006/relationships/notesMaster" Target="/ppt/notesMasters/notesMaster1.xml" Id="R70e2edf17a6445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60c507111f45f8" /><Relationship Type="http://schemas.openxmlformats.org/officeDocument/2006/relationships/notesMaster" Target="/ppt/notesMasters/notesMaster1.xml" Id="R3b5ccd05a27746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e93bba88584fec" /><Relationship Type="http://schemas.openxmlformats.org/officeDocument/2006/relationships/notesMaster" Target="/ppt/notesMasters/notesMaster1.xml" Id="R1c7c79c78a9f4e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cfadc3e2df46ce" /><Relationship Type="http://schemas.openxmlformats.org/officeDocument/2006/relationships/notesMaster" Target="/ppt/notesMasters/notesMaster1.xml" Id="R912fe5c66f2e44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91c7dc23974259" /><Relationship Type="http://schemas.openxmlformats.org/officeDocument/2006/relationships/notesMaster" Target="/ppt/notesMasters/notesMaster1.xml" Id="Ra3d39533f40243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3094d085b43e4" /><Relationship Type="http://schemas.openxmlformats.org/officeDocument/2006/relationships/notesMaster" Target="/ppt/notesMasters/notesMaster1.xml" Id="Rc31e10721fa541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d584ff1b5e47d5" /><Relationship Type="http://schemas.openxmlformats.org/officeDocument/2006/relationships/notesMaster" Target="/ppt/notesMasters/notesMaster1.xml" Id="Rccff6f9aab1044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1dc1acd4a54880" /><Relationship Type="http://schemas.openxmlformats.org/officeDocument/2006/relationships/notesMaster" Target="/ppt/notesMasters/notesMaster1.xml" Id="R83a71bd544ad42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37e817448048d4" /><Relationship Type="http://schemas.openxmlformats.org/officeDocument/2006/relationships/notesMaster" Target="/ppt/notesMasters/notesMaster1.xml" Id="Rb882fc482b5844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9a41f109c945cf" /><Relationship Type="http://schemas.openxmlformats.org/officeDocument/2006/relationships/notesMaster" Target="/ppt/notesMasters/notesMaster1.xml" Id="R458d01f26e824c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a5ecca05db4885" /><Relationship Type="http://schemas.openxmlformats.org/officeDocument/2006/relationships/notesMaster" Target="/ppt/notesMasters/notesMaster1.xml" Id="Ra627a742970e43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7ecd18f33f4916" /><Relationship Type="http://schemas.openxmlformats.org/officeDocument/2006/relationships/notesMaster" Target="/ppt/notesMasters/notesMaster1.xml" Id="R08a6d4a96719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多媒体实验</a:t>
            </a:r>
          </a:p>
          <a:p xmlns:a="http://schemas.openxmlformats.org/drawingml/2006/main">
            <a:r>
              <a:t>讲述时间：约20秒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本次介绍包括图像检索、视频检索和视频摘要三个实验。检索的目标是寻找匹配的内容，前两个实验分别以图像和视频为检索对象，第三个实验从完整视频中选取有用的片段。三个实验分别采用GeM、ViSiL和DSNet，并使用大模型辅助编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学生与大模型的分工</a:t>
            </a:r>
          </a:p>
          <a:p xmlns:a="http://schemas.openxmlformats.org/drawingml/2006/main">
            <a:r>
              <a:t>讲述时间：约30秒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三个实验采用相同的人机分工。学生负责明确目标、运行代码和判断结果，编程大模型负责生成和修正代码，专用视觉模型负责实际完成检索与摘要任务。每位学生独立完成实验，所有新代码及修改均通过大模型生成，不手动编写代码。可以复用作者代码和预训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实验一 图像检索任务</a:t>
            </a:r>
          </a:p>
          <a:p xmlns:a="http://schemas.openxmlformats.org/drawingml/2006/main">
            <a:r>
              <a:t>讲述时间：约30秒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第一个实验的任务是寻找匹配图像。这组照片展示了同一座桥，拍摄角度、距离和画面中的人物有所变化，但主体仍然相同。这正是图像检索需要识别的关系。用一张查询图像在图库中搜索，返回排名前五的图像及相似度，并根据对象ID判断它们是否属于同一对象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GeM论文图6，展示同一对象的不同视角。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GeM 特征提取网络</a:t>
            </a:r>
          </a:p>
          <a:p xmlns:a="http://schemas.openxmlformats.org/drawingml/2006/main">
            <a:r>
              <a:t>讲述时间：约42秒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图像排序首先需要建立每张图像的特征表示。网络图从左到右展示了这一过程：VGG16将图像转为512个通道的特征图，每个通道反映一种视觉模式在不同位置的响应。GeM将每个通道汇聚为一个数，最终得到512维向量。池化参数p沿用预训练模型的取值。随后将向量归一化到单位长度，计算查询与图库向量的点积，分数越高，排名越靠前。本实验采用单尺度推理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GeM论文图1中的描述子提取路径。实验配置为VGG16-GeM，单尺度、512维，不额外进行白化。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一个通道如何汇聚成一个数</a:t>
            </a:r>
          </a:p>
          <a:p xmlns:a="http://schemas.openxmlformats.org/drawingml/2006/main">
            <a:r>
              <a:t>讲述时间：约31秒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池化将一个特征图中的多个数值汇聚为一个数。左图的亮区表示该通道中的较强响应，右图将响应值从小到大排列，可以看到多数值较小，少量值较大。平均池化综合所有位置，最大池化只保留最大值。GeM对较强响应赋予更大的权重，在这个示例中，其数值位于平均池化与最大池化之间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池化示例来自参考课件第6页，使用ImageNet ResNet-50响应和p = 3。实验模型的p沿用预训练权重。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图像检索的执行步骤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根据前面的特征提取与匹配过程，图像检索可以分为五个步骤：核对图像清单、加载GeM、提取特征、计算相似度并返回Top-5，最后计算P@5。提取过程中，要保持特征向量与图像ID的一一对应。向编程大模型提供明确任务，并用真实运行输出指导代码修正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图像检索的结果检查</a:t>
            </a:r>
          </a:p>
          <a:p xmlns:a="http://schemas.openxmlformats.org/drawingml/2006/main">
            <a:r>
              <a:t>讲述时间：约18秒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得到排名后，P@5用于衡量前五个结果中相关图像的比例。本例中，第1、第3和第4个结果与查询相关，因此P@5等于3除以5，即0.60。在实验中展示自己的检索排名，并简要解释一个结果。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图片来自GeM论文图5和图6。Top-5顺序经过编排，用于说明P@5。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实验二 视频检索任务</a:t>
            </a:r>
          </a:p>
          <a:p xmlns:a="http://schemas.openxmlformats.org/drawingml/2006/main">
            <a:r>
              <a:t>讲述时间：约35秒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视频检索将图像匹配扩展到时间序列。图中的三行说明了时间信息的作用：第一行是查询短片，第二行是在相同内容上添加横幅的编辑副本，因此属于匹配结果。第三行来自同一机位的其他时刻，背景相似，但人物和动作不同。ViSiL将查询与候选库中的视频逐一比较，返回排名前三的结果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示例来自参考课件第12页，使用OpenCV vtest.avi。实验使用清单中的视频与匹配标签。</a:t>
            </a:r>
          </a:p>
          <a:p xmlns:a="http://schemas.openxmlformats.org/drawingml/2006/main">
            <a:r>
              <a:t>https://github.com/opencv/opencv/blob/4.x/samples/data/vtest.avi</a:t>
            </a:r>
          </a:p>
          <a:p xmlns:a="http://schemas.openxmlformats.org/drawingml/2006/main">
            <a:r>
              <a:t>https://github.com/yalesong/tvsum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ViSiL 视频相似度网络</a:t>
            </a:r>
          </a:p>
          <a:p xmlns:a="http://schemas.openxmlformats.org/drawingml/2006/main">
            <a:r>
              <a:t>讲述时间：约48秒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ViSiL先比较局部区域，再利用这些匹配关系分析时间结构。ResNet50提取每帧各区域的特征，随后通过PCA白化和注意力进行处理。查询帧中的每个区域在候选帧中寻找最佳匹配，对这些匹配分数求平均，得到一对帧的相似度。对所有帧对重复这一过程，就形成帧间相似度矩阵。二维卷积网络从矩阵中学习时间模式，将分数限制在固定范围后汇聚为一个视频相似度。比较时以查询视频作为第一个输入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ViSiL论文图2。完整图包含三元组训练，实验使用预训练权重对查询与候选视频进行成对推理。纵向箭头表示共享权重，计算方向为查询到候选。</a:t>
            </a:r>
          </a:p>
          <a:p xmlns:a="http://schemas.openxmlformats.org/drawingml/2006/main">
            <a:r>
              <a:t>https://arxiv.org/abs/1908.07410</a:t>
            </a:r>
          </a:p>
          <a:p xmlns:a="http://schemas.openxmlformats.org/drawingml/2006/main">
            <a:r>
              <a:t>https://github.com/MKLab-ITI/visil/tree/pytorch</a:t>
            </a:r>
          </a:p>
          <a:p xmlns:a="http://schemas.openxmlformats.org/drawingml/2006/main">
            <a:r>
              <a:t>https://github.com/MKLab-ITI/visil/blob/pytorch/model/similarities.py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帧间相似度图的含义</a:t>
            </a:r>
          </a:p>
          <a:p xmlns:a="http://schemas.openxmlformats.org/drawingml/2006/main">
            <a:r>
              <a:t>讲述时间：约36秒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帧间相似度图展示两个视频在时间上的对应关系。横轴表示候选视频时间，纵轴表示查询视频时间，高值位置表示两帧较为相似。左图中的连续高值带反映一段时间内的内容对应，截去视频开头可能使这条带发生偏移。右图中零散的高值区域可能来自共同背景，需要结合视频画面解释这些模式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帧间相似度示例来自参考课件第13页，使用ResNet特征。横轴为候选时间，纵轴为查询时间，单位均为秒。</a:t>
            </a:r>
          </a:p>
          <a:p xmlns:a="http://schemas.openxmlformats.org/drawingml/2006/main">
            <a:r>
              <a:t>https://arxiv.org/abs/1908.07410</a:t>
            </a:r>
          </a:p>
          <a:p xmlns:a="http://schemas.openxmlformats.org/drawingml/2006/main">
            <a:r>
              <a:t>https://github.com/MKLab-ITI/visil/tree/pytorch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视频检索的执行步骤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按照这一网络流程，先读取查询与候选视频清单，再以约每秒一帧进行采样，每个视频至少保留四个实际采样帧，并保持时间顺序。对每一对视频运行完整ViSiL网络，按分数排序并保留前三名，同时保存一张帧间相似度图。大模型每次修改代码后，都应重新运行并检查结果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https://arxiv.org/abs/1908.07410</a:t>
            </a:r>
          </a:p>
          <a:p xmlns:a="http://schemas.openxmlformats.org/drawingml/2006/main">
            <a:r>
              <a:t>https://github.com/MKLab-ITI/visil/tree/pytorch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视频检索的结果检查</a:t>
            </a:r>
          </a:p>
          <a:p xmlns:a="http://schemas.openxmlformats.org/drawingml/2006/main">
            <a:r>
              <a:t>讲述时间：约16秒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完成排序后，只要某个查询的Top-3中包含相关视频，就将该查询计为命中。报告命中查询数与查询总数，并用一张帧间相似度图解释检索排名。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ViSiL论文图1。图中数值为论文示例分数。</a:t>
            </a:r>
          </a:p>
          <a:p xmlns:a="http://schemas.openxmlformats.org/drawingml/2006/main">
            <a:r>
              <a:t>https://arxiv.org/abs/1908.07410</a:t>
            </a:r>
          </a:p>
          <a:p xmlns:a="http://schemas.openxmlformats.org/drawingml/2006/main">
            <a:r>
              <a:t>https://github.com/MKLab-ITI/visil/tree/pytorch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  实验三 视频摘要任务</a:t>
            </a:r>
          </a:p>
          <a:p xmlns:a="http://schemas.openxmlformats.org/drawingml/2006/main">
            <a:r>
              <a:t>讲述时间：约31秒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前两个实验寻找匹配内容，视频摘要则从一段完整视频中选取重要部分。上方是一段较长的飞机画面序列，下方保留其中部分内容，并维持原有时间顺序。DSNet通过选择视频片段生成这类摘要。页面中的15%以原视频总帧数为基准，选中的帧数必须在这一限制以内，最后导出不含音频的MP4视频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DSNet论文图1。长度预算以原视频总帧数为基准。</a:t>
            </a:r>
          </a:p>
          <a:p xmlns:a="http://schemas.openxmlformats.org/drawingml/2006/main">
            <a:r>
              <a:t>https://liplus.me/publication/dsnet/</a:t>
            </a:r>
          </a:p>
          <a:p xmlns:a="http://schemas.openxmlformats.org/drawingml/2006/main">
            <a:r>
              <a:t>https://github.com/li-plus/DSNet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  DSNet 无锚框摘要网络</a:t>
            </a:r>
          </a:p>
          <a:p xmlns:a="http://schemas.openxmlformats.org/drawingml/2006/main">
            <a:r>
              <a:t>讲述时间：约48秒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DSNet通过预测和筛选时间区间来选择片段。配套GoogLeNet特征经过时序编码后，分支分别预测重要性、中心度，以及到片段左右边界的距离。重要性与中心度相乘得到置信度，左右距离确定候选区间。阈值为0.4的NMS用于筛除重叠过多的候选。随后恢复帧分数，在每个分段内求平均，最后在15%的帧数预算内选择总得分较高的片段组合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DSNet论文图4，无锚框模型。置信度为重要性与中心度的乘积。以0.4执行NMS后，作者代码恢复帧分数，按分段求平均，再通过背包选择满足15%帧数预算的片段。</a:t>
            </a:r>
          </a:p>
          <a:p xmlns:a="http://schemas.openxmlformats.org/drawingml/2006/main">
            <a:r>
              <a:t>https://liplus.me/publication/dsnet/</a:t>
            </a:r>
          </a:p>
          <a:p xmlns:a="http://schemas.openxmlformats.org/drawingml/2006/main">
            <a:r>
              <a:t>https://github.com/li-plus/DSNet</a:t>
            </a:r>
          </a:p>
          <a:p xmlns:a="http://schemas.openxmlformats.org/drawingml/2006/main">
            <a:r>
              <a:t>https://github.com/li-plus/DSNet/blob/master/src/anchor_free/dsnet_af.py</a:t>
            </a:r>
          </a:p>
          <a:p xmlns:a="http://schemas.openxmlformats.org/drawingml/2006/main">
            <a:r>
              <a:t>https://github.com/li-plus/DSNet/blob/master/src/helpers/vsumm_helper.py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  重要性、片段与15%预算</a:t>
            </a:r>
          </a:p>
          <a:p xmlns:a="http://schemas.openxmlformats.org/drawingml/2006/main">
            <a:r>
              <a:t>讲述时间：约30秒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时间轴进一步说明片段得分和长度如何影响最终选择。横轴从左到右表示时间，示例曲线是人工标注的重要性评分，着色区域为选中的片段。每个片段既有得分，也占用一定帧数，因此选择时需要兼顾两者。这里从2941帧中选取420帧，占14.3%。实际实验使用DSNet预测分数，并根据自己的结果计算比例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参考课件第20页中的TVSum人工评分与2秒分段。示例从2941帧中选取420帧，实验使用DSNet预测分数。</a:t>
            </a:r>
          </a:p>
          <a:p xmlns:a="http://schemas.openxmlformats.org/drawingml/2006/main">
            <a:r>
              <a:t>https://github.com/yalesong/tvsum</a:t>
            </a:r>
          </a:p>
          <a:p xmlns:a="http://schemas.openxmlformats.org/drawingml/2006/main">
            <a:r>
              <a:t>https://github.com/li-plus/DSNet/blob/master/src/helpers/vsumm_helper.py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  视频摘要的执行步骤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按照上述评分与选段过程，首先核对完整视频、特征、分段和帧号是否对应同一时间轴。每个采样帧具有1024维特征。运行预训练的DSNet无锚框模型，并按照作者实现完成后处理和选段。将选中的帧按时间顺序导出，核对选中帧数与实际导出帧数，最后播放摘要检查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https://liplus.me/publication/dsnet/</a:t>
            </a:r>
          </a:p>
          <a:p xmlns:a="http://schemas.openxmlformats.org/drawingml/2006/main">
            <a:r>
              <a:t>https://github.com/li-plus/DSNet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  视频摘要的结果检查</a:t>
            </a:r>
          </a:p>
          <a:p xmlns:a="http://schemas.openxmlformats.org/drawingml/2006/main">
            <a:r>
              <a:t>讲述时间：约16秒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导出后，检查摘要呈现了原视频中的哪些内容。论文示例中的红框标记被选中的画面。对于自己的摘要，记录帧数和选段时间，展示关键帧，并简要说明保留和遗漏的内容。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DSNet论文图10(c)。画面序列从第一行延续到第二行。</a:t>
            </a:r>
          </a:p>
          <a:p xmlns:a="http://schemas.openxmlformats.org/drawingml/2006/main">
            <a:r>
              <a:t>https://liplus.me/publication/dsnet/</a:t>
            </a:r>
          </a:p>
          <a:p xmlns:a="http://schemas.openxmlformats.org/drawingml/2006/main">
            <a:r>
              <a:t>https://github.com/li-plus/DSNet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  大模型交互记录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除算法任务外，三个实验都需要保留完整的大模型使用、代码修改、运行和检查记录。保存每次提示词与回复，以及模型名称和日期，并将修改对应到代码版本。失败尝试和成功运行均应保留。完整记录放入同一份Word报告的附录，正文说明关键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  交互效率的评价依据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这些记录也用于评价大模型交互。评分关注大模型如何有效帮助完成任务与检查结果：明确的需求可以减少误解，具体的报错信息有助于修正，结果核验能够发现错误建议。提示词数量更少本身并不代表工作更好。记录用时和重复工作时应说明具体条件，并单独列出下载或排队等外部等待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  最终提交材料</a:t>
            </a:r>
          </a:p>
          <a:p xmlns:a="http://schemas.openxmlformats.org/drawingml/2006/main">
            <a:r>
              <a:t>讲述时间：约25秒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完成实验和过程记录后，每位学生提交本人代码及一份涵盖三个实验的Word报告。表格列出了各实验的主要结果。报告中应包含图表和完整的大模型交互记录，字数和页数不限。数据集、模型权重与特征缓存不提交，摘要MP4保留在本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  参考论文、代码与预训练权重</a:t>
            </a:r>
          </a:p>
          <a:p xmlns:a="http://schemas.openxmlformats.org/drawingml/2006/main">
            <a:r>
              <a:t>讲述时间：约20秒</a:t>
            </a:r>
          </a:p>
          <a:p xmlns:a="http://schemas.openxmlformats.org/drawingml/2006/main">
            <a:r>
              <a:t>讲稿</a:t>
            </a:r>
          </a:p>
          <a:p xmlns:a="http://schemas.openxmlformats.org/drawingml/2006/main">
            <a:r>
              <a:t>每个实验均有对应论文和作者实现，可通过页面中的链接访问。代码仓库提供预训练模型资源，可以结合这些资料理解网络结构图与实际程序之间的关系。谢谢。</a:t>
            </a:r>
          </a:p>
          <a:p xmlns:a="http://schemas.openxmlformats.org/drawingml/2006/main">
            <a:r>
              <a:t>图示说明与来源</a:t>
            </a:r>
          </a:p>
          <a:p xmlns:a="http://schemas.openxmlformats.org/drawingml/2006/main">
            <a:r>
              <a:t>https://arxiv.org/abs/1711.02512</a:t>
            </a:r>
          </a:p>
          <a:p xmlns:a="http://schemas.openxmlformats.org/drawingml/2006/main">
            <a:r>
              <a:t>https://github.com/filipradenovic/cnnimageretrieval-pytorch</a:t>
            </a:r>
          </a:p>
          <a:p xmlns:a="http://schemas.openxmlformats.org/drawingml/2006/main">
            <a:r>
              <a:t>https://arxiv.org/abs/1908.07410</a:t>
            </a:r>
          </a:p>
          <a:p xmlns:a="http://schemas.openxmlformats.org/drawingml/2006/main">
            <a:r>
              <a:t>https://github.com/MKLab-ITI/visil/tree/pytorch</a:t>
            </a:r>
          </a:p>
          <a:p xmlns:a="http://schemas.openxmlformats.org/drawingml/2006/main">
            <a:r>
              <a:t>https://liplus.me/publication/dsnet/</a:t>
            </a:r>
          </a:p>
          <a:p xmlns:a="http://schemas.openxmlformats.org/drawingml/2006/main">
            <a:r>
              <a:t>https://github.com/li-plus/DSNet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7cba105ad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e6ef52b57d4785" /><Relationship Type="http://schemas.openxmlformats.org/officeDocument/2006/relationships/slideLayout" Target="/ppt/slideLayouts/slideLayout1.xml" Id="Ra9ac1bd5664b46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c1bd5664b46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dd31f07a04f32" /><Relationship Type="http://schemas.openxmlformats.org/officeDocument/2006/relationships/notesSlide" Target="/ppt/notesSlides/notesSlide1.xml" Id="Rba508d4e0c3f47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aab954caa4c4c" /><Relationship Type="http://schemas.openxmlformats.org/officeDocument/2006/relationships/notesSlide" Target="/ppt/notesSlides/notesSlide2.xml" Id="R9ad38f8f790e47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89efbbbee4638" /><Relationship Type="http://schemas.openxmlformats.org/officeDocument/2006/relationships/image" Target="/ppt/media/image.png" Id="R7e168c02894146c0" /><Relationship Type="http://schemas.openxmlformats.org/officeDocument/2006/relationships/hyperlink" Target="https://arxiv.org/abs/1711.02512" TargetMode="External" Id="R89d72ffb1cf54624" /><Relationship Type="http://schemas.openxmlformats.org/officeDocument/2006/relationships/notesSlide" Target="/ppt/notesSlides/notesSlide3.xml" Id="R3819053b7cf5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5aea95dcd44b1" /><Relationship Type="http://schemas.openxmlformats.org/officeDocument/2006/relationships/image" Target="/ppt/media/image2.png" Id="R9522ccb6369f42aa" /><Relationship Type="http://schemas.openxmlformats.org/officeDocument/2006/relationships/hyperlink" Target="https://arxiv.org/abs/1711.02512" TargetMode="External" Id="R1bc53d84d4264909" /><Relationship Type="http://schemas.openxmlformats.org/officeDocument/2006/relationships/notesSlide" Target="/ppt/notesSlides/notesSlide4.xml" Id="R98d5ad98e16d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f09bfb674223" /><Relationship Type="http://schemas.openxmlformats.org/officeDocument/2006/relationships/image" Target="/ppt/media/image3.png" Id="R82650bbd29a1459e" /><Relationship Type="http://schemas.openxmlformats.org/officeDocument/2006/relationships/image" Target="/ppt/media/image4.png" Id="R263f14b016ed4090" /><Relationship Type="http://schemas.openxmlformats.org/officeDocument/2006/relationships/notesSlide" Target="/ppt/notesSlides/notesSlide5.xml" Id="R4c7995bddc6f44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6a7cc762b429f" /><Relationship Type="http://schemas.openxmlformats.org/officeDocument/2006/relationships/notesSlide" Target="/ppt/notesSlides/notesSlide6.xml" Id="R2a08aedccd894e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c2c5e6fcf49f0" /><Relationship Type="http://schemas.openxmlformats.org/officeDocument/2006/relationships/image" Target="/ppt/media/image5.png" Id="R7e67013df31b489d" /><Relationship Type="http://schemas.openxmlformats.org/officeDocument/2006/relationships/image" Target="/ppt/media/image6.png" Id="Rd392c633932c4f3f" /><Relationship Type="http://schemas.openxmlformats.org/officeDocument/2006/relationships/image" Target="/ppt/media/image7.png" Id="R0ba0edab20e44a55" /><Relationship Type="http://schemas.openxmlformats.org/officeDocument/2006/relationships/image" Target="/ppt/media/image8.png" Id="R8ff44286a7634cc0" /><Relationship Type="http://schemas.openxmlformats.org/officeDocument/2006/relationships/image" Target="/ppt/media/image9.png" Id="R2356256e902d42f7" /><Relationship Type="http://schemas.openxmlformats.org/officeDocument/2006/relationships/image" Target="/ppt/media/image10.png" Id="R89543f850ee240c3" /><Relationship Type="http://schemas.openxmlformats.org/officeDocument/2006/relationships/hyperlink" Target="https://arxiv.org/abs/1711.02512" TargetMode="External" Id="R90252f60198649ef" /><Relationship Type="http://schemas.openxmlformats.org/officeDocument/2006/relationships/notesSlide" Target="/ppt/notesSlides/notesSlide7.xml" Id="R1f6f4f497a9743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c4f2cc944960" /><Relationship Type="http://schemas.openxmlformats.org/officeDocument/2006/relationships/image" Target="/ppt/media/image.jpeg" Id="R4bc0326239344e1c" /><Relationship Type="http://schemas.openxmlformats.org/officeDocument/2006/relationships/image" Target="/ppt/media/image2.jpeg" Id="R9ef4d734d6bb4581" /><Relationship Type="http://schemas.openxmlformats.org/officeDocument/2006/relationships/image" Target="/ppt/media/image3.jpeg" Id="R369d37f26bdf44b1" /><Relationship Type="http://schemas.openxmlformats.org/officeDocument/2006/relationships/image" Target="/ppt/media/image4.jpeg" Id="Raf1ed8b785b942e0" /><Relationship Type="http://schemas.openxmlformats.org/officeDocument/2006/relationships/image" Target="/ppt/media/image5.jpeg" Id="Rc4decd813dca4926" /><Relationship Type="http://schemas.openxmlformats.org/officeDocument/2006/relationships/image" Target="/ppt/media/image6.jpeg" Id="R1098affaea024449" /><Relationship Type="http://schemas.openxmlformats.org/officeDocument/2006/relationships/image" Target="/ppt/media/image7.jpeg" Id="Rc759d86603f14634" /><Relationship Type="http://schemas.openxmlformats.org/officeDocument/2006/relationships/image" Target="/ppt/media/image8.jpeg" Id="Rbf15a7cb703644c6" /><Relationship Type="http://schemas.openxmlformats.org/officeDocument/2006/relationships/image" Target="/ppt/media/image9.jpeg" Id="R67911065c03d4929" /><Relationship Type="http://schemas.openxmlformats.org/officeDocument/2006/relationships/image" Target="/ppt/media/image10.jpeg" Id="R53ae40f373544acd" /><Relationship Type="http://schemas.openxmlformats.org/officeDocument/2006/relationships/image" Target="/ppt/media/image11.jpeg" Id="Rbb39e092a61d4e26" /><Relationship Type="http://schemas.openxmlformats.org/officeDocument/2006/relationships/image" Target="/ppt/media/image12.jpeg" Id="R97932f7e1bad44fc" /><Relationship Type="http://schemas.openxmlformats.org/officeDocument/2006/relationships/notesSlide" Target="/ppt/notesSlides/notesSlide8.xml" Id="Rc594aa4dd2454d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65a3626d94a7b" /><Relationship Type="http://schemas.openxmlformats.org/officeDocument/2006/relationships/image" Target="/ppt/media/image11.png" Id="R5686a9a8c94e43cb" /><Relationship Type="http://schemas.openxmlformats.org/officeDocument/2006/relationships/hyperlink" Target="https://arxiv.org/abs/1908.07410" TargetMode="External" Id="R22ecff4a260c43ad" /><Relationship Type="http://schemas.openxmlformats.org/officeDocument/2006/relationships/notesSlide" Target="/ppt/notesSlides/notesSlide9.xml" Id="R96e363aa9f2b43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d909fe2bc4c3d" /><Relationship Type="http://schemas.openxmlformats.org/officeDocument/2006/relationships/image" Target="/ppt/media/image12.png" Id="Ra78e3af8d2f141d0" /><Relationship Type="http://schemas.openxmlformats.org/officeDocument/2006/relationships/image" Target="/ppt/media/image13.png" Id="R3ee07171fd79434d" /><Relationship Type="http://schemas.openxmlformats.org/officeDocument/2006/relationships/notesSlide" Target="/ppt/notesSlides/notesSlide10.xml" Id="R0b6747e4a7654c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918e044e146f5" /><Relationship Type="http://schemas.openxmlformats.org/officeDocument/2006/relationships/notesSlide" Target="/ppt/notesSlides/notesSlide11.xml" Id="R5bbfcc11f261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f911978754cf6" /><Relationship Type="http://schemas.openxmlformats.org/officeDocument/2006/relationships/image" Target="/ppt/media/image14.png" Id="R6eac4c77b2084593" /><Relationship Type="http://schemas.openxmlformats.org/officeDocument/2006/relationships/hyperlink" Target="https://arxiv.org/abs/1908.07410" TargetMode="External" Id="Rafe4315183c847e8" /><Relationship Type="http://schemas.openxmlformats.org/officeDocument/2006/relationships/notesSlide" Target="/ppt/notesSlides/notesSlide12.xml" Id="Rc7b4a13271a547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de78a409d4618" /><Relationship Type="http://schemas.openxmlformats.org/officeDocument/2006/relationships/image" Target="/ppt/media/image15.png" Id="R5a14247a9e9e42b6" /><Relationship Type="http://schemas.openxmlformats.org/officeDocument/2006/relationships/image" Target="/ppt/media/image16.png" Id="Rdf6e4f71449a43e3" /><Relationship Type="http://schemas.openxmlformats.org/officeDocument/2006/relationships/hyperlink" Target="https://liplus.me/publication/dsnet/" TargetMode="External" Id="Rb7e5d9581a33489d" /><Relationship Type="http://schemas.openxmlformats.org/officeDocument/2006/relationships/notesSlide" Target="/ppt/notesSlides/notesSlide13.xml" Id="Rd8180119bc1349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446d2add140f1" /><Relationship Type="http://schemas.openxmlformats.org/officeDocument/2006/relationships/image" Target="/ppt/media/image17.png" Id="Re2077229eff145fe" /><Relationship Type="http://schemas.openxmlformats.org/officeDocument/2006/relationships/hyperlink" Target="https://liplus.me/publication/dsnet/" TargetMode="External" Id="Rf7ccb47b0ab8422a" /><Relationship Type="http://schemas.openxmlformats.org/officeDocument/2006/relationships/notesSlide" Target="/ppt/notesSlides/notesSlide14.xml" Id="R3bb4d0a745364e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72b2d3954d22" /><Relationship Type="http://schemas.openxmlformats.org/officeDocument/2006/relationships/image" Target="/ppt/media/image18.png" Id="Rbd38cef1e1364c34" /><Relationship Type="http://schemas.openxmlformats.org/officeDocument/2006/relationships/notesSlide" Target="/ppt/notesSlides/notesSlide15.xml" Id="R48aea5e21bf24c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eba7a0e7c4853" /><Relationship Type="http://schemas.openxmlformats.org/officeDocument/2006/relationships/hyperlink" Target="https://github.com/li-plus/DSNet" TargetMode="External" Id="Rad1ca590547d438b" /><Relationship Type="http://schemas.openxmlformats.org/officeDocument/2006/relationships/notesSlide" Target="/ppt/notesSlides/notesSlide16.xml" Id="R2e3fde501fab45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4797976734acf" /><Relationship Type="http://schemas.openxmlformats.org/officeDocument/2006/relationships/image" Target="/ppt/media/image19.png" Id="Rbb2c57f4d8a5491c" /><Relationship Type="http://schemas.openxmlformats.org/officeDocument/2006/relationships/image" Target="/ppt/media/image20.png" Id="R26503c2177854c7b" /><Relationship Type="http://schemas.openxmlformats.org/officeDocument/2006/relationships/hyperlink" Target="https://liplus.me/publication/dsnet/" TargetMode="External" Id="Rcb2ab189014c473a" /><Relationship Type="http://schemas.openxmlformats.org/officeDocument/2006/relationships/notesSlide" Target="/ppt/notesSlides/notesSlide17.xml" Id="Re6465b0ab6514c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d2c4d877c4761" /><Relationship Type="http://schemas.openxmlformats.org/officeDocument/2006/relationships/notesSlide" Target="/ppt/notesSlides/notesSlide18.xml" Id="R05e40f7ec4e34b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8a39905324300" /><Relationship Type="http://schemas.openxmlformats.org/officeDocument/2006/relationships/notesSlide" Target="/ppt/notesSlides/notesSlide19.xml" Id="R51badca6407e44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e9832120d492e" /><Relationship Type="http://schemas.openxmlformats.org/officeDocument/2006/relationships/notesSlide" Target="/ppt/notesSlides/notesSlide20.xml" Id="R1d56aac7ace843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ab6cc0de4f8a" /><Relationship Type="http://schemas.openxmlformats.org/officeDocument/2006/relationships/hyperlink" Target="https://arxiv.org/abs/1711.02512" TargetMode="External" Id="R106f21f4a1604417" /><Relationship Type="http://schemas.openxmlformats.org/officeDocument/2006/relationships/hyperlink" Target="https://github.com/filipradenovic/cnnimageretrieval-pytorch" TargetMode="External" Id="R3b68669a76ea48f7" /><Relationship Type="http://schemas.openxmlformats.org/officeDocument/2006/relationships/hyperlink" Target="https://arxiv.org/abs/1908.07410" TargetMode="External" Id="Re0a787d43a034fbe" /><Relationship Type="http://schemas.openxmlformats.org/officeDocument/2006/relationships/hyperlink" Target="https://github.com/MKLab-ITI/visil/tree/pytorch" TargetMode="External" Id="R3d722704202247d2" /><Relationship Type="http://schemas.openxmlformats.org/officeDocument/2006/relationships/hyperlink" Target="https://liplus.me/publication/dsnet/" TargetMode="External" Id="R41cb7ef41c6b44be" /><Relationship Type="http://schemas.openxmlformats.org/officeDocument/2006/relationships/hyperlink" Target="https://github.com/li-plus/DSNet" TargetMode="External" Id="Rffae8ae766d84423" /><Relationship Type="http://schemas.openxmlformats.org/officeDocument/2006/relationships/notesSlide" Target="/ppt/notesSlides/notesSlide21.xml" Id="R88f7f4d6d64a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31FA6C-984C-4B9F-99B2-7744040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A7DAD8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A7DAD8"/>
                </a:solidFill>
                <a:latin typeface="Heiti SC"/>
                <a:ea typeface="Heiti SC"/>
                <a:cs typeface="Heiti SC"/>
              </a:rPr>
              <a:t>多媒体实验课</a:t>
            </a:r>
            <a:endParaRPr sz="1725" b="1">
              <a:solidFill>
                <a:srgbClr val="A7DAD8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44C6955-3AF0-48DD-9EAA-93554258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57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defPPr>
            <a:lvl1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1pPr>
            <a:lvl2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2pPr>
            <a:lvl3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3pPr>
            <a:lvl4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4pPr>
            <a:lvl5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5pPr>
            <a:lvl6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6pPr>
            <a:lvl7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7pPr>
            <a:lvl8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8pPr>
            <a:lvl9pPr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54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多媒体实验</a:t>
            </a:r>
            <a:endParaRPr sz="5400" b="1">
              <a:solidFill>
                <a:srgbClr val="FFFFF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DD5F30D-E3EE-4616-A819-9FE085B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7DAD8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A7DAD8"/>
                </a:solidFill>
                <a:latin typeface="Heiti SC"/>
                <a:ea typeface="Heiti SC"/>
                <a:cs typeface="Heiti SC"/>
              </a:rPr>
              <a:t>01</a:t>
            </a:r>
            <a:endParaRPr sz="1800" b="0">
              <a:solidFill>
                <a:srgbClr val="A7DAD8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E7C100-6AEA-44AB-8575-750BCCB6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291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图像检索</a:t>
            </a:r>
            <a:endParaRPr sz="2625" b="1">
              <a:solidFill>
                <a:srgbClr val="FFFFF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827B7E-9B88-4657-A1EF-811D9CFB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86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BED5E1"/>
                </a:solidFill>
                <a:latin typeface="Heiti SC"/>
                <a:ea typeface="Heiti SC"/>
                <a:cs typeface="Heiti SC"/>
              </a:rPr>
              <a:t>GeM</a:t>
            </a:r>
            <a:endParaRPr sz="2025" b="0">
              <a:solidFill>
                <a:srgbClr val="BED5E1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B202AE-BA0D-439A-BAD2-025C8BAB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7DAD8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A7DAD8"/>
                </a:solidFill>
                <a:latin typeface="Heiti SC"/>
                <a:ea typeface="Heiti SC"/>
                <a:cs typeface="Heiti SC"/>
              </a:rPr>
              <a:t>02</a:t>
            </a:r>
            <a:endParaRPr sz="1800" b="0">
              <a:solidFill>
                <a:srgbClr val="A7DAD8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AB2173-CD69-4B16-A14E-31A3C2A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视频检索</a:t>
            </a:r>
            <a:endParaRPr sz="2625" b="1">
              <a:solidFill>
                <a:srgbClr val="FFFFF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C1DBC7-D0B3-4C92-B105-1E8F5CD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86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BED5E1"/>
                </a:solidFill>
                <a:latin typeface="Heiti SC"/>
                <a:ea typeface="Heiti SC"/>
                <a:cs typeface="Heiti SC"/>
              </a:rPr>
              <a:t>ViSiL</a:t>
            </a:r>
            <a:endParaRPr sz="2025" b="0">
              <a:solidFill>
                <a:srgbClr val="BED5E1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EFF661-DB1B-405B-B86B-6F550298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957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7DAD8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A7DAD8"/>
                </a:solidFill>
                <a:latin typeface="Heiti SC"/>
                <a:ea typeface="Heiti SC"/>
                <a:cs typeface="Heiti SC"/>
              </a:rPr>
              <a:t>03</a:t>
            </a:r>
            <a:endParaRPr sz="1800" b="0">
              <a:solidFill>
                <a:srgbClr val="A7DAD8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FFD16F-3E03-4C15-9BD7-3BB7F59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291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视频摘要</a:t>
            </a:r>
            <a:endParaRPr sz="2625" b="1">
              <a:solidFill>
                <a:srgbClr val="FFFFF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09A08C-82E4-4DA5-A0EC-F844588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8637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BED5E1"/>
                </a:solidFill>
                <a:latin typeface="Heiti SC"/>
                <a:ea typeface="Heiti SC"/>
                <a:cs typeface="Heiti SC"/>
              </a:rPr>
              <a:t>DSNet 无锚框</a:t>
            </a:r>
            <a:endParaRPr sz="2025" b="0">
              <a:solidFill>
                <a:srgbClr val="BED5E1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7D9CAA-47CE-4873-B627-52E49A73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BED5E1"/>
                </a:solidFill>
                <a:latin typeface="Heiti SC"/>
                <a:ea typeface="Heiti SC"/>
                <a:cs typeface="Heiti SC"/>
              </a:rPr>
              <a:t>01</a:t>
            </a:r>
            <a:endParaRPr sz="1350" b="0">
              <a:solidFill>
                <a:srgbClr val="BED5E1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2554CDC-B66B-4772-A58A-3518518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defPPr>
            <a:lvl1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1pPr>
            <a:lvl2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2pPr>
            <a:lvl3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3pPr>
            <a:lvl4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4pPr>
            <a:lvl5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5pPr>
            <a:lvl6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6pPr>
            <a:lvl7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7pPr>
            <a:lvl8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8pPr>
            <a:lvl9pPr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BED5E1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BED5E1"/>
                </a:solidFill>
                <a:latin typeface="Heiti SC"/>
                <a:ea typeface="Heiti SC"/>
                <a:cs typeface="Heiti SC"/>
              </a:rPr>
              <a:t>数据、步骤、关键算法与大模型辅助编程</a:t>
            </a:r>
            <a:endParaRPr sz="2325" b="0">
              <a:solidFill>
                <a:srgbClr val="BED5E1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721048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259FBE-8384-452F-8752-F2D05E5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个人实验与编程方式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AF5B80-6780-43D6-968D-27ADD59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学生与大模型的分工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C53F5B-34D3-48FE-AC13-19A1E3A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02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FD77DBCF-A6B0-4D7F-B733-75B5902E4428}"/>
              </a:ext>
            </a:extLst>
          </p:cNvPr>
          <p:cNvGraphicFramePr/>
          <p:nvPr/>
        </p:nvGraphicFramePr>
        <p:xfrm>
          <a:off xmlns:a="http://schemas.openxmlformats.org/drawingml/2006/main" x="762000" y="1885950"/>
          <a:ext xmlns:a="http://schemas.openxmlformats.org/drawingml/2006/main" cx="10668000" cy="26289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29000"/>
                <a:gridCol w="3381375"/>
                <a:gridCol w="3857625"/>
              </a:tblGrid>
              <a:tr h="657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学生</a:t>
                      </a:r>
                      <a:endParaRPr sz="1875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编程大模型</a:t>
                      </a:r>
                      <a:endParaRPr sz="1875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专用视觉模型</a:t>
                      </a:r>
                      <a:endParaRPr sz="1875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提出需求与约束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生成与修改代码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GeM 提取图像描述子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执行程序并反馈证据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定位错误与生成修正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ViSiL 比较视频相似度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572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核验结果并解释算法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生成检查与可视化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DSNet 预测摘要片段</a:t>
                      </a:r>
                      <a:endParaRPr sz="187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D61F8A-96F4-447A-97B7-8E0A912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958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每位学生独立完成，使用提供的数据。</a:t>
            </a:r>
            <a:endParaRPr sz="23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9E27E8-1C8F-4A78-9121-B6381BA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054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新代码及修改通过大模型生成，不手动编写或修改代码。</a:t>
            </a:r>
            <a:endParaRPr sz="21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允许复用作者实现；实际运行模型，保留完整交互记录。</a:t>
            </a:r>
          </a:p>
        </p:txBody>
      </p:sp>
    </p:spTree>
    <p:extLst>
      <p:ext uri="{BB962C8B-B14F-4D97-AF65-F5344CB8AC3E}">
        <p14:creationId xmlns:p14="http://schemas.microsoft.com/office/powerpoint/2010/main" val="1644790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DB742AE-9114-4328-9540-A3F942B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实验一 · 图像检索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515A8-5D54-4C86-BBD8-775883CF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实验一 图像检索任务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F22C600-0207-4CDB-BA24-9C03C7A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检索不同视角下的同一对象，按对象ID判断是否相关。</a:t>
            </a:r>
            <a:endParaRPr sz="25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5BC4950A-E2DE-4408-9883-54372C5CC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68c02894146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" y="2453491"/>
            <a:ext cx="10715625" cy="1979593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E5FDD6-7189-4F09-836F-84B28537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4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输入数据</a:t>
            </a:r>
            <a:endParaRPr sz="14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8E4A42-8A0B-43AE-A4A7-9F21E23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304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查询、图库</a:t>
            </a:r>
            <a:endParaRPr sz="22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及对象标识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74A4D0-1FE4-4DED-9EC5-BDEA135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4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任务输出</a:t>
            </a:r>
            <a:endParaRPr sz="14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5CE80A-C22A-4B76-A2AE-E1611E73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57800"/>
            <a:ext cx="3190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Top-5图像</a:t>
            </a:r>
            <a:endParaRPr sz="22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相似度与P@5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695BD1-B31A-451B-B7A6-DC681CC4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4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参考模型</a:t>
            </a:r>
            <a:endParaRPr sz="14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AC1C21-5149-4A23-9EB1-E4D75E55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VGG16-GeM</a:t>
            </a:r>
            <a:endParaRPr sz="22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预训练检索权重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8A389C-D084-483A-9569-ADA4DD8F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89d72ffb1cf54624"/>
              </a:rPr>
              <a:t>图：GeM论文图6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1FAF98-71C1-4E50-865D-E09DAED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03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458028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00053D-FDE9-4C64-9B25-03C08846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实验一 · 图像检索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48F63-9A29-4A45-87D9-1B8CD20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GeM 特征提取网络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400F20-E74A-4A19-9F8F-53A2FD20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04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625B0C07-4A97-4AAF-AE2C-327CAFE7A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2ccb6369f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122801"/>
            <a:ext cx="10668000" cy="1831349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82374A1-BB2C-4163-8FF0-92666E4D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卷积特征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996D754-E70F-4B45-9E60-D202686E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VGG16提取包含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512个通道的特征图。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01219EA-27A4-4326-B032-73BE57D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434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GeM池化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2EF928-4F4C-4B9D-A15F-DC0D15FF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每通道汇成一个数，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p沿用预训练权重。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EDB30FD-FD21-47CF-993B-5DBF9A6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归一化与检索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10852FB-ECB2-4CAD-A9BE-CDFE2E1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对512维向量做L2归一化，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按点积排序得到Top-5。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A12637E-6999-49A1-97F8-13524650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本实验采用单尺度推理。</a:t>
            </a:r>
            <a:endParaRPr sz="1875" b="0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609A9E8-A341-4867-AD0B-2CF6EB6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1bc53d84d4264909"/>
              </a:rPr>
              <a:t>网络结构：GeM论文图1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2058223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5B8376-C432-4FDF-9241-9A70E4A3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实验一 · 池化原理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34E7F-26E6-4C40-B69E-C89BD95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一个通道如何汇聚成一个数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EF851AF8-26BC-4CFE-81D7-D92C87AFD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50bbd29a145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" y="1800225"/>
            <a:ext cx="3619500" cy="2895600"/>
          </a:xfrm>
          <a:prstGeom xmlns:a="http://schemas.openxmlformats.org/drawingml/2006/main" prst="rect">
            <a:avLst/>
          </a:prstGeom>
        </p:spPr>
      </p:pic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AF6CAE89-976D-45D8-9F38-2A721731A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f14b016ed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4952" y="1800225"/>
            <a:ext cx="4621696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F01F93-C4F0-4021-9956-CFCEE52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局部强响应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D98A2E-79C3-42DB-9616-2E27CE2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观察同一通道中的不同空间位置。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7E8A74-8D16-4E24-B792-62A11FD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48225"/>
            <a:ext cx="607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平均池化：所有位置共同参与</a:t>
            </a:r>
            <a:endParaRPr sz="202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最大池化：只保留最强位置</a:t>
            </a:r>
          </a:p>
          <a:p xmlns:a="http://schemas.openxmlformats.org/drawingml/2006/main">
            <a:pPr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GeM：由 p 调节对强响应的强调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3C3154-51DF-44A4-84F9-D3BABD5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池化示例：ResNet-50，p = 3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938206-EAC5-4C24-A835-04FDBA9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05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91033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EA87C8E-173B-4956-945D-E3CF980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实验一 · 图像检索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DC4898-21E9-438B-8141-7F1833CE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图像检索的执行步骤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8B1368D-09B9-406D-9099-D3189D60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06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277A4B-655C-49A6-BC19-02EA545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01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A2C604-786A-402B-9B5F-A9F3E0E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核对数据清单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A9BB37-5EBA-49DE-8C03-0E51515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查询/图库数量、对象ID、图像能否读取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51BC2A-6F96-49F5-B3B6-26DC0CC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02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928E60-357D-4DE3-849D-459CA9B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加载参考方法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12A81D-2F91-4829-BDB4-B6C6EEA2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作者检索权重与对应RGB预处理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67FA26-E353-4F54-98BB-21B9366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03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6F0435-E0FB-4E0F-9A2F-5A81F92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提取图像描述子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87AF09-4E59-46E8-992D-6743E33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真实前向推理；向量与图像ID一一对应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995589-7282-478D-83E5-248A2335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04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C5E01D-6B2B-415A-B28B-9FAC0F3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计算相似度并排序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C8AD4D-C5EB-4E12-B467-3727310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L2归一化后点积，输出Top-5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9A7CAB-9706-4BB5-A49A-072C927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05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E4F02B6-2823-43E7-BAC8-8599BCF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911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核验检索结果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B24F3B-2C76-44E2-B066-ABECED0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911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逐查询P@5与均值，解释一个案例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533338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9036AC-CE11-4E59-96EC-64F1BF5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实验一 · 结果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BADD81-9271-4F7C-9800-B5C9660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图像检索的结果检查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C91C15-D12A-46A6-B8AD-6480AC3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查询图像</a:t>
            </a:r>
            <a:endParaRPr sz="2025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23" name="图片 22">
            <a:extLst xmlns:a="http://schemas.openxmlformats.org/drawingml/2006/main">
              <a:ext uri="{FF2B5EF4-FFF2-40B4-BE49-F238E27FC236}">
                <a16:creationId xmlns:a16="http://schemas.microsoft.com/office/drawing/2014/main" id="{69F9529F-5526-4F1B-92AC-08A962804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7013df31b48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" y="2458829"/>
            <a:ext cx="2143125" cy="1635543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9EB097-1F89-4784-A124-BF24F0B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478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Top-5 排名示例</a:t>
            </a:r>
            <a:endParaRPr sz="2025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25" name="图片 24">
            <a:extLst xmlns:a="http://schemas.openxmlformats.org/drawingml/2006/main">
              <a:ext uri="{FF2B5EF4-FFF2-40B4-BE49-F238E27FC236}">
                <a16:creationId xmlns:a16="http://schemas.microsoft.com/office/drawing/2014/main" id="{20D7211E-DE94-4E1C-81A9-6FB5DE859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2c633932c4f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0925" y="2559439"/>
            <a:ext cx="1466850" cy="1148571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C3B48B-839D-4726-A0A1-ACC6431A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76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1 · 相关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27" name="图片 26">
            <a:extLst xmlns:a="http://schemas.openxmlformats.org/drawingml/2006/main">
              <a:ext uri="{FF2B5EF4-FFF2-40B4-BE49-F238E27FC236}">
                <a16:creationId xmlns:a16="http://schemas.microsoft.com/office/drawing/2014/main" id="{3165E987-8544-41F0-94A1-6F04B464F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edab20e4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2075" y="2637888"/>
            <a:ext cx="1466850" cy="991673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C18AFC-A335-4BD6-889A-D93933A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76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7443E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A7443E"/>
                </a:solidFill>
                <a:latin typeface="Heiti SC"/>
                <a:ea typeface="Heiti SC"/>
                <a:cs typeface="Heiti SC"/>
              </a:rPr>
              <a:t>2 · 不相关</a:t>
            </a:r>
            <a:endParaRPr sz="1500" b="1">
              <a:solidFill>
                <a:srgbClr val="A7443E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29" name="图片 28">
            <a:extLst xmlns:a="http://schemas.openxmlformats.org/drawingml/2006/main">
              <a:ext uri="{FF2B5EF4-FFF2-40B4-BE49-F238E27FC236}">
                <a16:creationId xmlns:a16="http://schemas.microsoft.com/office/drawing/2014/main" id="{D79BB391-B959-4CB7-8FF6-6477EAB8D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44286a7634c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3225" y="2575245"/>
            <a:ext cx="1466850" cy="1116959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E95EF2E-1BAA-4B8F-9C3D-1780AFA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76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3 · 相关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31" name="图片 30">
            <a:extLst xmlns:a="http://schemas.openxmlformats.org/drawingml/2006/main">
              <a:ext uri="{FF2B5EF4-FFF2-40B4-BE49-F238E27FC236}">
                <a16:creationId xmlns:a16="http://schemas.microsoft.com/office/drawing/2014/main" id="{D7FD8AAD-33D7-4BE5-83C7-D8C2F89E6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6256e902d42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8822" y="2524125"/>
            <a:ext cx="1277957" cy="121920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DE88C1-8CC0-4F8C-8C36-1D7AE870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76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4 · 相关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33" name="图片 32">
            <a:extLst xmlns:a="http://schemas.openxmlformats.org/drawingml/2006/main">
              <a:ext uri="{FF2B5EF4-FFF2-40B4-BE49-F238E27FC236}">
                <a16:creationId xmlns:a16="http://schemas.microsoft.com/office/drawing/2014/main" id="{7681AE3E-4A2A-439A-9C17-123CFE51E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43f850ee2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2592119"/>
            <a:ext cx="1466850" cy="1083212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13674A2-378D-4111-A423-A30913D9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876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7443E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A7443E"/>
                </a:solidFill>
                <a:latin typeface="Heiti SC"/>
                <a:ea typeface="Heiti SC"/>
                <a:cs typeface="Heiti SC"/>
              </a:rPr>
              <a:t>5 · 不相关</a:t>
            </a:r>
            <a:endParaRPr sz="1500" b="1">
              <a:solidFill>
                <a:srgbClr val="A7443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3C1358-D1FC-4667-B3F8-6C91B03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32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P@5 = 3 / 5 = 0.60</a:t>
            </a:r>
            <a:endParaRPr sz="32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9CF7FD-26A3-4383-94AF-140BA95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展示查询、Top-5、图像ID与相似度。</a:t>
            </a:r>
            <a:endParaRPr sz="21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给出逐条/平均P@5，核查一个成功或失败案例。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556CB6-A7FC-4F02-8537-B46BD73E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90252f60198649ef"/>
              </a:rPr>
              <a:t>图：GeM论文图5—6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CA5DF8-BFA5-4BD3-81DC-C66C413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07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18052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9C3695E-A02D-41B2-A455-84F52AD5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实验二 · 任务与样例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5BCD48-5319-4B43-8DA0-5B9EF8D3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实验二 视频检索任务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D92A1C-040B-4DD6-98E9-D5379F0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查询短片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2532B5-2890-48DC-8D2A-7D24AFE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作为检索输入</a:t>
            </a:r>
            <a:endParaRPr sz="172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E8620B-8F70-416B-A088-396F0EF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编辑后的副本</a:t>
            </a:r>
            <a:endParaRPr sz="21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0CCB5B-F628-49E4-9105-42B25FE7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相关候选</a:t>
            </a:r>
            <a:endParaRPr sz="172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276D81-39C2-4F7D-9A90-0A1E9C8C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AC4039"/>
                </a:solidFill>
                <a:latin typeface="Heiti SC"/>
                <a:ea typeface="Heiti SC"/>
                <a:cs typeface="Heiti SC"/>
              </a:rPr>
              <a:t>同机位其他时刻</a:t>
            </a:r>
            <a:endParaRPr sz="2175" b="1">
              <a:solidFill>
                <a:srgbClr val="AC4039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6E8FAE-E6EC-46BD-ACB6-E8C5F3C4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视角相同，内容不匹配</a:t>
            </a:r>
            <a:endParaRPr sz="172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9" name="图片 8">
            <a:extLst xmlns:a="http://schemas.openxmlformats.org/drawingml/2006/main">
              <a:ext uri="{FF2B5EF4-FFF2-40B4-BE49-F238E27FC236}">
                <a16:creationId xmlns:a16="http://schemas.microsoft.com/office/drawing/2014/main" id="{9D18251B-258B-4A2D-83D7-CE2409AD5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032623934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6638" y="17716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B4E3DA28-467B-4A62-B6CD-12CF72CA5F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4d734d6bb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463" y="17716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0D2CD6AF-CFAD-4D22-8284-0635AF7D3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d37f26bdf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4288" y="17716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CAA50F44-B6EE-423D-8FFB-F8625C8C8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d8b785b942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113" y="17716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FBF4115C-2AA7-4E94-8BB0-70A7C2F0C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ecd813dca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6638" y="29908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D098B3BD-AA74-45FA-846A-736B12332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8affaea02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463" y="29908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5" name="图片 14">
            <a:extLst xmlns:a="http://schemas.openxmlformats.org/drawingml/2006/main">
              <a:ext uri="{FF2B5EF4-FFF2-40B4-BE49-F238E27FC236}">
                <a16:creationId xmlns:a16="http://schemas.microsoft.com/office/drawing/2014/main" id="{E35E28EE-9181-4683-A8C1-595B72057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9d86603f14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4288" y="29908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748320BF-875A-4B62-9B08-D99F3E3E7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5a7cb703644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113" y="29908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584F79AA-3A7F-44C7-94F1-C150B0C280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11065c03d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6638" y="42100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77F7FEBE-6417-458A-9358-FB4BAB2D8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e40f37354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463" y="42100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19" name="图片 18">
            <a:extLst xmlns:a="http://schemas.openxmlformats.org/drawingml/2006/main">
              <a:ext uri="{FF2B5EF4-FFF2-40B4-BE49-F238E27FC236}">
                <a16:creationId xmlns:a16="http://schemas.microsoft.com/office/drawing/2014/main" id="{C8DE52C4-3A75-4D90-BB0D-3AAFB36BE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9e092a61d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4288" y="4210050"/>
            <a:ext cx="1447800" cy="1085850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>
            <a:extLst xmlns:a="http://schemas.openxmlformats.org/drawingml/2006/main">
              <a:ext uri="{FF2B5EF4-FFF2-40B4-BE49-F238E27FC236}">
                <a16:creationId xmlns:a16="http://schemas.microsoft.com/office/drawing/2014/main" id="{401DF0EF-FDA1-4012-A983-D1BBD581B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32f7e1bad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113" y="4210050"/>
            <a:ext cx="1447800" cy="1085850"/>
          </a:xfrm>
          <a:prstGeom xmlns:a="http://schemas.openxmlformats.org/drawingml/2006/main" prst="rect">
            <a:avLst/>
          </a:prstGeom>
        </p:spPr>
      </p:pic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055EB2F-4CE2-4868-83E0-B059F20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00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使用查询短片、候选视频与匹配标签，返回Top-3并统计命中数。</a:t>
            </a:r>
            <a:endParaRPr sz="202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9D00903-C396-4921-A4D3-5F218E7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08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407284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A857E7-C50E-491E-A2F7-F6A711E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实验二 · 视频检索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8053E7-0D65-4612-95C8-F90C768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ViSiL 视频相似度网络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078604F-3B6E-4AFA-B2E2-9FF5E7A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09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585E7356-335C-4BB0-BB9E-F77932CB1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6a9a8c94e43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7730" y="1609725"/>
            <a:ext cx="8396539" cy="3381375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0A30898-DA0C-4BC2-85ED-499AB98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区域编码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C66586-0C97-4574-B92B-D47EECE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ResNet50区域特征，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经PCA白化与注意力处理。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A7787EE-0CCF-4D61-A4D4-6734B36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673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帧对匹配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2E9C4C6-970C-46DE-9158-F7F1C09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435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区域最佳匹配后求平均，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构成帧间相似度矩阵。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3250B92-C2F8-463E-8220-150E906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视频评分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81D06E-A186-4175-A072-82109242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4355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2D CNN学习时间结构，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截断后由Chamfer汇聚。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D94DE6-F85C-4098-8C70-BACBE148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22ecff4a260c43ad"/>
              </a:rPr>
              <a:t>网络结构：ViSiL论文图2。本实验运行视频对推理。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381573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4C403B-5181-4D04-81F6-035ACC3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实验二 · 时间匹配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DE2537-DC9A-4B49-B9C2-5D4D12BE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帧间相似度图的含义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D45A29-5F91-40FF-8B83-5EAC2BC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查询与编辑副本</a:t>
            </a:r>
            <a:endParaRPr sz="225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6DF796-7DAF-48E9-B300-1B230A7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4039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AC4039"/>
                </a:solidFill>
                <a:latin typeface="Heiti SC"/>
                <a:ea typeface="Heiti SC"/>
                <a:cs typeface="Heiti SC"/>
              </a:rPr>
              <a:t>查询与同场景其他时刻</a:t>
            </a:r>
            <a:endParaRPr sz="2250" b="1">
              <a:solidFill>
                <a:srgbClr val="AC4039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1EDF6ACE-92A3-4AAA-BB35-CBC7338DA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e3af8d2f141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1625" y="2171700"/>
            <a:ext cx="2933700" cy="2933700"/>
          </a:xfrm>
          <a:prstGeom xmlns:a="http://schemas.openxmlformats.org/drawingml/2006/main" prst="rect">
            <a:avLst/>
          </a:prstGeom>
        </p:spPr>
      </p:pic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1F2828C0-9CD0-48A4-8D6E-B91A493FA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07171fd7943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171700"/>
            <a:ext cx="293370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F3CA04-21F4-4503-88A9-369F0EA9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29225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连续高值带可显示时间对应。</a:t>
            </a:r>
            <a:endParaRPr sz="21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截短视频可使匹配带产生偏移。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228388-AF42-4348-B2DD-E84C2449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292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零散高值可能来自相似背景。</a:t>
            </a:r>
            <a:endParaRPr sz="21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结合视频内容解释匹配结构。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A25C6B-21BA-4F17-8476-4F057E4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10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772944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14A3156-35C5-4932-A040-ABC3966D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实验二 · 视频检索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DC28E0-2377-4A2B-985E-7EF5190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视频检索的执行步骤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5C7FD8E-87A2-41A2-ACA9-6B166B12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11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0109498-B1D3-4DA4-9124-E2D1401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01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ABF29D-F53F-4D37-B279-F22D7AB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读取视频与关系清单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DDA20B-459B-4625-8537-4B79FA3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查询ID、候选ID、来源片段与相关性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83E5FA-2873-4454-A7CC-8DADFC91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02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BCC787-4DBD-4C40-AD2D-26FB3289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采样及空间预处理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2E69A8-B441-492B-8C0C-28D364F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约1 fps；每侧至少4个实际采样帧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49A3EB-0E64-479F-9571-34787BF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03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EBB849-9071-4AA4-9238-A1AC496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提取区域时序特征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A4CCF5-9B26-4CBA-9967-6DB2FC65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使用完整骨干网络、PCA与注意力，保留帧顺序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C8026D-1764-46FB-8E40-60018EFC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04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50FFF5B-34E3-4C1C-840C-A64489DA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计算每对视频的分数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1895C8-7A2D-4CD4-BABF-63AD823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调用完整ViSiL比较网络，降序取Top-3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28D3942-196D-43D3-AB32-14FDC6C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05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46DD49-1A5F-48DA-958D-875744C5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911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检查检索与时间证据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5C0EF5A-8522-42D4-8115-E49EC974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911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Top-3命中查询数，以及一张帧间相似度图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701417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EBE0C1-D34E-4416-876C-6A2A83AD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实验二 · 结果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028F0-40CC-46DB-82B1-6ADBBDF8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视频检索的结果检查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4AC520E3-EA62-4EAA-A9D4-B5E3769F7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c4c77b208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632080"/>
            <a:ext cx="7038975" cy="460349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A65860-70DD-4C44-B3EA-9C0D51E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报告应包含</a:t>
            </a:r>
            <a:endParaRPr sz="23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BC424E-C980-45D4-975A-BA2E9BE4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一张帧间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相似度图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5DDDE4-EC60-4D89-8C23-14704CCA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命中查询数 /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查询总数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16054B-8AB2-463A-92AA-288A389A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5777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解释时间匹配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与视频排名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AD86F7-E277-431C-A0EB-1E63E81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afe4315183c847e8"/>
              </a:rPr>
              <a:t>论文示例：ViSiL图1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4EDB10-6672-4535-9F94-65F5ABA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12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384087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6DAD50F-DC04-4410-8229-A7ADFE2A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实验三 · 视频摘要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67A1E-EC87-45A7-8E3E-9B18E349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实验三 视频摘要任务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CD2E25A-EBE5-476A-A8EA-8933C3F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09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输入完整视频、匹配特征、分段与原帧映射</a:t>
            </a:r>
            <a:endParaRPr sz="210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5" name="图片 14">
            <a:extLst xmlns:a="http://schemas.openxmlformats.org/drawingml/2006/main">
              <a:ext uri="{FF2B5EF4-FFF2-40B4-BE49-F238E27FC236}">
                <a16:creationId xmlns:a16="http://schemas.microsoft.com/office/drawing/2014/main" id="{EC8DF12A-53E0-45EF-9D09-D9A87EF820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4247a9e9e42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561133"/>
            <a:ext cx="10629900" cy="754658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436788-3BC7-404D-B022-5A6F5621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选中的内容</a:t>
            </a:r>
            <a:endParaRPr sz="210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7" name="图片 16">
            <a:extLst xmlns:a="http://schemas.openxmlformats.org/drawingml/2006/main">
              <a:ext uri="{FF2B5EF4-FFF2-40B4-BE49-F238E27FC236}">
                <a16:creationId xmlns:a16="http://schemas.microsoft.com/office/drawing/2014/main" id="{0B3CAA49-AF80-4258-BF13-99932E2C3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e4f71449a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4467225"/>
            <a:ext cx="4953000" cy="7620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A81785-F0FF-47F1-9EC3-DE935689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71900"/>
            <a:ext cx="3619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5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≤ 15%</a:t>
            </a:r>
            <a:endParaRPr sz="5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CA4398-FF49-4892-808E-4536BCD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9650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相对于原视频总帧数</a:t>
            </a:r>
            <a:endParaRPr sz="202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266EB1-A06A-4F9A-B10C-6CA6EF80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57850"/>
            <a:ext cx="10648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0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DSNet无锚框版本 · 按原顺序选取片段 · 输出无音频MP4</a:t>
            </a:r>
            <a:endParaRPr sz="21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DA4E44-71DA-4FD1-9AB2-1EC2717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b7e5d9581a33489d"/>
              </a:rPr>
              <a:t>图：DSNet论文图1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32DE8D-A2B1-4B0E-8BDF-525FF19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13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4776523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60B844-9216-42E0-8A05-5A15ACB4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实验三 · 视频摘要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1985D-7F59-4397-8CE7-8C5BBBE5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DSNet 无锚框摘要网络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26E51A-2F5A-4091-BC00-7E4C320D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14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0EA4C1F6-3048-442A-841C-A4390289D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77229eff1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759104"/>
            <a:ext cx="10668000" cy="3034993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597E6E3-1DB5-4131-86A2-B16E9AB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时序特征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EA75312-D743-497D-BCE9-6F27DA8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配套GoogLeNet特征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进入时序编码网络。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821F9C-EBCD-4EB8-93B9-7874606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片段预测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3566C9-103F-4828-8AC2-F7139B4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2450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置信度 = 重要性 × 中心度。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左右偏移量确定片段区间。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06FFA5A-BBAF-4E7E-A8EB-A0D6826E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长度约束下的片段选择</a:t>
            </a:r>
            <a:endParaRPr sz="20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6980479-4252-4897-8F60-1AA4128D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381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NMS 0.4后恢复帧分数，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分段均分，15%预算背包选段。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803A6E6-8885-449B-8D25-022591B1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f7ccb47b0ab8422a"/>
              </a:rPr>
              <a:t>网络结构：DSNet论文图4（无锚框版本）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927832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3544E0-EEE7-4431-BA2A-4F12255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实验三 · 预算选段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E9669-FBF6-48F7-AB5E-EE2B47F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重要性、片段与15%预算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186F2D8-938E-4CF2-87C9-50F4EA8867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8cef1e1364c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1894742"/>
            <a:ext cx="10668000" cy="2954215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F51481-D4AC-48AD-9698-7839FBA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曲线：人工重要性评分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着色区间：示例选中的片段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60C6F5-DF45-4347-A90A-51F9D30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8637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示例：420 / 2,941 = 14.3%</a:t>
            </a:r>
            <a:endParaRPr sz="255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3F0A31-A5E2-46A1-BB01-E573FAC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79120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DSNet实验使用模型预测分数与配套分段。</a:t>
            </a:r>
            <a:endParaRPr sz="18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FCF506-3529-4385-9745-93C77C9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数据：TVSum，按2秒分段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99F123-FE0B-4558-B9FC-5230595D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15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2560063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CC0757A-D82D-4682-A341-1EEAB91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实验三 · 视频摘要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380129-D146-4E89-AFAA-0721FEE8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视频摘要的执行步骤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AE5CA2-FF28-4D6A-ADCA-EC4C0D0A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16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D2FA63-FF14-4C6F-825D-EBBBDF20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01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D3A937-D6C3-4ADD-894E-7A026E29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核对配套输入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E53B97-3A87-4DA4-8CD8-B5D7CCE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完整视频、1024维特征、分段与帧号一致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968AC8-E5E1-41AB-94FA-3FA4A02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02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36113B-01DA-4E54-8FD3-24BD803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运行DSNet AF预测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3EA74B-B750-4D5E-B0CC-D0891AE9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加载匹配权重，得到置信度与候选区间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A13347-C700-4BAF-922E-CF5E9BBE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03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236F70-6AD0-4820-854D-D1C857C3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运行作者的后处理流程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3B3004-820A-4D95-B5B9-810B8138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NMS、帧分数恢复、分段评分、预算选段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3C8237-0F27-4381-B977-3DF193B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04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4326CD-10FD-4455-8ED7-B5C036B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导出选中的视频帧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6D26BB6-DBFA-49D8-A9E5-7EB5BCE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原顺序、无音频MP4，保留真实选段时间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BE9D15-A565-4F73-BB4F-268E0998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61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05</a:t>
            </a:r>
            <a:endParaRPr sz="247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97AFD48-5BB3-4BA8-A6DB-F0D5827B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911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核验长度与内容</a:t>
            </a:r>
            <a:endParaRPr sz="2250" b="1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801C16B-548E-447B-9733-67591740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91100"/>
            <a:ext cx="6143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检查15%帧数上限、导出帧数并播放摘要</a:t>
            </a:r>
            <a:endParaRPr sz="195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26CF53-564F-44EC-918D-2DA18549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ad1ca590547d438b"/>
              </a:rPr>
              <a:t>使用匹配的视频特征运行DSNet AF。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6076594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DB20A9-D9CD-4138-B3C8-DD31E2D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实验三 · 结果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71444F-00E5-4032-AA8A-6C3B5F0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视频摘要的结果检查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FD3452-5B27-46B6-B2C9-C1D6AB0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论文示例：红框标出被选中的画面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C1638CDF-DFA1-4D1C-B0C7-E1E569389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c57f4d8a5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449830"/>
            <a:ext cx="10668000" cy="112014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131A3D0C-1495-49A2-9CA8-CB52150941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3c2177854c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3835124"/>
            <a:ext cx="10668000" cy="1111801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76A924-B2E4-4CA5-828F-37B4B0D5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0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记录原帧数、选中帧数、实际比例和选段时间。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21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展示关键帧，解释保留事件与遗漏内容，播放检查。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3F098C-47AF-4CA2-961E-3E4910DD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61717E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cb2ab189014c473a"/>
              </a:rPr>
              <a:t>图：DSNet论文图10(c)</a:t>
            </a:r>
            <a:endParaRPr sz="127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26FDFB-1873-47D4-8AF2-2E691F23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17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1121888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9A92C8-B1E7-4C38-9EDB-465CD89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交互过程与评价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309F50-669F-4E95-9EDD-5A5CE238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大模型交互记录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E1EA08F-8FF4-4F00-9A4D-36C5A5F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18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2C9E680F-1C4C-4C84-94A6-58874F5DE8D3}"/>
              </a:ext>
            </a:extLst>
          </p:cNvPr>
          <p:cNvGraphicFramePr/>
          <p:nvPr/>
        </p:nvGraphicFramePr>
        <p:xfrm>
          <a:off xmlns:a="http://schemas.openxmlformats.org/drawingml/2006/main" x="762000" y="1895475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67000"/>
                <a:gridCol w="8001000"/>
              </a:tblGrid>
              <a:tr h="6096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记录内容</a:t>
                      </a:r>
                      <a:endParaRPr sz="2025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需要保留的证据</a:t>
                      </a:r>
                      <a:endParaRPr sz="2025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交互原文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模型名称、日期、完整提示词与回复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代码对应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采用的建议、修改文件与代码版本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真实运行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执行命令、关键输出、报错与结果图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验证或修正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025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接受结果的依据，或问题反馈与再次运行</a:t>
                      </a:r>
                      <a:endParaRPr sz="2025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595AAD-7A65-4B73-95C1-4CEE4E3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578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完整交互记录放入Word附录，正文说明关键步骤。</a:t>
            </a:r>
            <a:endParaRPr sz="225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89BE7F-868C-43D5-AC17-4108B0EC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293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一次运行成功：保留运行结果与检查记录。</a:t>
            </a:r>
            <a:endParaRPr sz="18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发生失败：保留每次尝试、修正与重新运行的过程。</a:t>
            </a:r>
          </a:p>
        </p:txBody>
      </p:sp>
    </p:spTree>
    <p:extLst>
      <p:ext uri="{BB962C8B-B14F-4D97-AF65-F5344CB8AC3E}">
        <p14:creationId xmlns:p14="http://schemas.microsoft.com/office/powerpoint/2010/main" val="429734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30699C-C46E-4010-A6F6-D0C9D2B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交互过程与评价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2CD8FE-CA0F-430D-ADE3-77CD8F0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交互效率的评价依据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A773391-F47D-4A2E-8AC6-FADE72F6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19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graphicFrame>
        <p:nvGraphicFramePr>
          <p:cNvPr id="4" name="表格 3">
            <a:extLst xmlns:a="http://schemas.openxmlformats.org/drawingml/2006/main">
              <a:ext uri="{FF2B5EF4-FFF2-40B4-BE49-F238E27FC236}">
                <a16:creationId xmlns:a16="http://schemas.microsoft.com/office/drawing/2014/main" id="{3E7CB074-6B6E-487C-B8A2-21864746145E}"/>
              </a:ext>
            </a:extLst>
          </p:cNvPr>
          <p:cNvGraphicFramePr/>
          <p:nvPr/>
        </p:nvGraphicFramePr>
        <p:xfrm>
          <a:off xmlns:a="http://schemas.openxmlformats.org/drawingml/2006/main" x="762000" y="1838325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19375"/>
                <a:gridCol w="8048625"/>
              </a:tblGrid>
              <a:tr h="6191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观察维度</a:t>
                      </a:r>
                      <a:endParaRPr sz="1950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效率体现在哪里</a:t>
                      </a:r>
                      <a:endParaRPr sz="1950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191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需求表达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交代输入、输出、算法与验收条件，减少误解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反馈与定位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给出具体错误与上下文，使修正针对问题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6191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验证与判断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核查真实结果，识别并纠正模型的错误建议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有效迭代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95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复用已确认的信息，减少重复试错与无效返工</a:t>
                      </a:r>
                      <a:endParaRPr sz="195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7C1FEC-D182-4828-B0F5-D0974114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578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根据使用大模型完成任务的交互效率评定分数。</a:t>
            </a:r>
            <a:endParaRPr sz="24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202D97-01FC-47B1-BA64-805FE627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388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记录交互轮数、返工与用时，并注明任务、模型和运行环境。</a:t>
            </a:r>
            <a:endParaRPr sz="1800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>
              <a:buNone/>
              <a:defRPr sz="1800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外部等待时间单独列出，具体评分细则由任课教师确定。</a:t>
            </a:r>
          </a:p>
        </p:txBody>
      </p:sp>
    </p:spTree>
    <p:extLst>
      <p:ext uri="{BB962C8B-B14F-4D97-AF65-F5344CB8AC3E}">
        <p14:creationId xmlns:p14="http://schemas.microsoft.com/office/powerpoint/2010/main" val="11561532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950859-C759-467F-AB27-C5A0636D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个人独立完成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33CBE6-3CA6-430C-AC0C-AC7EB62C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最终提交材料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8CC31C2A-A1FD-4ABD-B1E8-9E5E2B65B1EE}"/>
              </a:ext>
            </a:extLst>
          </p:cNvPr>
          <p:cNvGraphicFramePr/>
          <p:nvPr/>
        </p:nvGraphicFramePr>
        <p:xfrm>
          <a:off xmlns:a="http://schemas.openxmlformats.org/drawingml/2006/main" x="762000" y="198120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619500"/>
                <a:gridCol w="7048500"/>
              </a:tblGrid>
              <a:tr h="7143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实验</a:t>
                      </a:r>
                      <a:endParaRPr sz="2100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报告中需要呈现的证据</a:t>
                      </a:r>
                      <a:endParaRPr sz="2100" b="1">
                        <a:solidFill>
                          <a:srgbClr val="FFFFF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图像检索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Top-5图像与P@5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视频检索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Top-3视频与帧间相似度图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1F6F8"/>
                    </a:solidFill>
                  </a:tcPr>
                </a:tc>
              </a:tr>
              <a:tr h="7143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视频摘要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2100" b="0">
                          <a:solidFill>
                            <a:srgbClr val="263C4F"/>
                          </a:solidFill>
                          <a:latin typeface="Heiti SC"/>
                          <a:ea typeface="Heiti SC"/>
                          <a:cs typeface="Heiti SC"/>
                        </a:rPr>
                        <a:t>选段时间、关键帧与帧数比例</a:t>
                      </a:r>
                      <a:endParaRPr sz="2100" b="0">
                        <a:solidFill>
                          <a:srgbClr val="263C4F"/>
                        </a:solidFill>
                        <a:latin typeface="Heiti SC"/>
                        <a:ea typeface="Heiti SC"/>
                        <a:cs typeface="Heiti SC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73A3A5-1D9B-4D13-9689-03F4640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提交本人实验代码＋一份Word报告（含完整交互附录）。</a:t>
            </a:r>
            <a:endParaRPr sz="2325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CFC068-C160-46A3-94F9-CA68A49C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626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725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使用提供的数据，图表直接嵌入报告，代码格式与报告篇幅不限。</a:t>
            </a:r>
            <a:endParaRPr sz="172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不提交数据集、权重或特征缓存；摘要视频留本地检查。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C81FC0-54F2-4AFC-B96C-0F3A878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20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7749621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7C045A9-F45A-4BC4-A3D7-65ABF563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3"/>
                </a:solidFill>
                <a:latin typeface="Heiti SC"/>
                <a:ea typeface="Heiti SC"/>
                <a:cs typeface="Heiti SC"/>
              </a:defRPr>
            </a:pPr>
            <a:r>
              <a:rPr sz="1500" b="1">
                <a:solidFill>
                  <a:srgbClr val="087F83"/>
                </a:solidFill>
                <a:latin typeface="Heiti SC"/>
                <a:ea typeface="Heiti SC"/>
                <a:cs typeface="Heiti SC"/>
              </a:rPr>
              <a:t>论文与作者实现</a:t>
            </a:r>
            <a:endParaRPr sz="1500" b="1">
              <a:solidFill>
                <a:srgbClr val="087F8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5012E-9630-47B6-B47F-733582D3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defPPr>
            <a:lvl1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1pPr>
            <a:lvl2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2pPr>
            <a:lvl3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3pPr>
            <a:lvl4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4pPr>
            <a:lvl5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5pPr>
            <a:lvl6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6pPr>
            <a:lvl7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7pPr>
            <a:lvl8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8pPr>
            <a:lvl9pPr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60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参考论文、代码与预训练权重</a:t>
            </a:r>
            <a:endParaRPr sz="360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BF66E8-F56E-46B0-8047-5332A626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GeM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2B8878-8953-473B-A964-82DB0C4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9775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图像检索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FECFBA-C151-4037-B211-7EAB9CB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Radenović 等 · TPAMI 2019</a:t>
            </a:r>
            <a:endParaRPr sz="180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EF18FE-85CF-47DD-9195-DA60E8D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106f21f4a1604417"/>
              </a:rPr>
              <a:t>论文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E7E500-AC92-4D9B-87E9-072EC1B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3b68669a76ea48f7"/>
              </a:rPr>
              <a:t>作者代码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510BA0-E259-4893-8FD0-A47B7217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ViSiL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94B8E6-1AF4-434B-A0E7-1BD5296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视频检索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FCBDCF-631D-4E9B-89BF-B812F4A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Kordopatis-Zilos 等 · ICCV 2019</a:t>
            </a:r>
            <a:endParaRPr sz="180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594A67-C106-4758-AF9D-5609268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e0a787d43a034fbe"/>
              </a:rPr>
              <a:t>论文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5EE830-7D99-4AFF-B97A-EF24E836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3d722704202247d2"/>
              </a:rPr>
              <a:t>作者代码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545BF64-2A85-4FA3-AE8A-E3482C5F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42C4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2C43"/>
                </a:solidFill>
                <a:latin typeface="Heiti SC"/>
                <a:ea typeface="Heiti SC"/>
                <a:cs typeface="Heiti SC"/>
              </a:rPr>
              <a:t>DSNet</a:t>
            </a:r>
            <a:endParaRPr sz="3450" b="1">
              <a:solidFill>
                <a:srgbClr val="142C43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2EDC2D-7BDD-4EB3-9DA0-F5BB3016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33925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63C4F"/>
                </a:solidFill>
                <a:latin typeface="Heiti SC"/>
                <a:ea typeface="Heiti SC"/>
                <a:cs typeface="Heiti SC"/>
              </a:rPr>
              <a:t>视频摘要 · 无锚框版本</a:t>
            </a:r>
            <a:endParaRPr sz="2175" b="0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C177E03-A1D0-4E30-91E0-AC1B381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Zhu 等 · TIP 2021</a:t>
            </a:r>
            <a:endParaRPr sz="180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4DF44B-D971-41D2-B527-57E4106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41cb7ef41c6b44be"/>
              </a:rPr>
              <a:t>论文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44F6390-69B8-444A-82C3-BE7B297C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24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63C4F"/>
                </a:solidFill>
                <a:latin typeface="Heiti SC"/>
                <a:ea typeface="Heiti SC"/>
                <a:cs typeface="Heiti SC"/>
              </a:defRPr>
            </a:pPr>
            <a:r>
              <a:rPr sz="1875" b="0" u="sng">
                <a:solidFill>
                  <a:srgbClr val="263C4F"/>
                </a:solidFill>
                <a:latin typeface="Heiti SC"/>
                <a:ea typeface="Heiti SC"/>
                <a:cs typeface="Heiti SC"/>
                <a:hlinkClick xmlns:r="http://schemas.openxmlformats.org/officeDocument/2006/relationships" r:id="Rffae8ae766d84423"/>
              </a:rPr>
              <a:t>作者代码</a:t>
            </a:r>
            <a:endParaRPr sz="1875" b="0" u="sng">
              <a:solidFill>
                <a:srgbClr val="263C4F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1A68BA-D303-4EB4-A078-0E0BF820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200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l">
              <a:defRPr sz="16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结合数据清单，使用作者代码和预训练权重完成实验。</a:t>
            </a:r>
            <a:endParaRPr sz="1725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46153A-4D7B-4C2D-86D7-DA24D768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defPPr>
            <a:lvl1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1pPr>
            <a:lvl2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2pPr>
            <a:lvl3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3pPr>
            <a:lvl4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4pPr>
            <a:lvl5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5pPr>
            <a:lvl6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6pPr>
            <a:lvl7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7pPr>
            <a:lvl8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8pPr>
            <a:lvl9pPr algn="r">
              <a:defRPr sz="135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r">
              <a:buNone/>
              <a:defRPr sz="1350" b="0">
                <a:solidFill>
                  <a:srgbClr val="61717E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61717E"/>
                </a:solidFill>
                <a:latin typeface="Heiti SC"/>
                <a:ea typeface="Heiti SC"/>
                <a:cs typeface="Heiti SC"/>
              </a:rPr>
              <a:t>21</a:t>
            </a:r>
            <a:endParaRPr sz="1350" b="0">
              <a:solidFill>
                <a:srgbClr val="61717E"/>
              </a:solidFill>
              <a:latin typeface="Heiti SC"/>
              <a:ea typeface="Heiti SC"/>
              <a:cs typeface="Heiti SC"/>
            </a:endParaRPr>
          </a:p>
        </p:txBody>
      </p:sp>
    </p:spTree>
    <p:extLst>
      <p:ext uri="{BB962C8B-B14F-4D97-AF65-F5344CB8AC3E}">
        <p14:creationId xmlns:p14="http://schemas.microsoft.com/office/powerpoint/2010/main" val="6403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2026-10-22T02:39:38.8850000Z</dcterms:created>
  <dcterms:modified xsi:type="dcterms:W3CDTF">2026-10-22T02:39:38.8860000Z</dcterms:modified>
</coreProperties>
</file>